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722"/>
                </a:solidFill>
                <a:latin typeface="Courier New"/>
              </a:defRPr>
            </a:pPr>
            <a:r>
              <a:t>SEED ROUND · CHENNAI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Arial"/>
              </a:defRPr>
            </a:pPr>
            <a:r>
              <a:t>Curelith</a:t>
            </a:r>
          </a:p>
          <a:p>
            <a:pPr>
              <a:spcBef>
                <a:spcPts val="2400"/>
              </a:spcBef>
              <a:defRPr sz="2200" i="1">
                <a:solidFill>
                  <a:srgbClr val="DCE2E0"/>
                </a:solidFill>
                <a:latin typeface="Georgia"/>
              </a:defRPr>
            </a:pPr>
            <a:r>
              <a:t>Curelith helps Indian families make calm, verified healthcare decisions and access instant hospital care through WhatsApp and QR emergency passes.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A929A"/>
                </a:solidFill>
                <a:latin typeface="Arial"/>
              </a:defRPr>
            </a:pPr>
            <a:r>
              <a:t>Mohammed Saaqib (Founder &amp; CEO) · saaqibheroindia@gmail.com · curelith.com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A929A"/>
                </a:solidFill>
                <a:latin typeface="Courier New"/>
              </a:defRPr>
            </a:pPr>
            <a:r>
              <a:t>Tip: if a stranger can't repeat your one-liner, rewrite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217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A929A"/>
                </a:solidFill>
                <a:latin typeface="Courier New"/>
              </a:defRPr>
            </a:pPr>
            <a:r>
              <a:t>01/08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722"/>
                </a:solidFill>
                <a:latin typeface="Courier New"/>
              </a:defRPr>
            </a:pPr>
            <a:r>
              <a:t>02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81B"/>
                </a:solidFill>
                <a:latin typeface="Arial"/>
              </a:defRPr>
            </a:pPr>
            <a:r>
              <a:t>Urban Indians lose 6+ hours and ₹3,500 every clinic visit to chaos and fragmented records.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377440"/>
            <a:ext cx="32461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/>
          <a:lstStyle/>
          <a:p>
            <a:pPr algn="ctr">
              <a:defRPr sz="1000" b="1">
                <a:solidFill>
                  <a:srgbClr val="687078"/>
                </a:solidFill>
                <a:latin typeface="Courier New"/>
              </a:defRPr>
            </a:pPr>
            <a:r>
              <a:t>WHO</a:t>
            </a:r>
          </a:p>
          <a:p>
            <a:pPr>
              <a:spcBef>
                <a:spcPts val="1400"/>
              </a:spcBef>
              <a:defRPr sz="1800" b="1">
                <a:solidFill>
                  <a:srgbClr val="14181B"/>
                </a:solidFill>
                <a:latin typeface="Arial"/>
              </a:defRPr>
            </a:pPr>
            <a:r>
              <a:t>Tier-1 &amp; 2 Families &amp; Elderly</a:t>
            </a:r>
          </a:p>
          <a:p>
            <a:pPr>
              <a:spcBef>
                <a:spcPts val="1400"/>
              </a:spcBef>
              <a:defRPr sz="1300">
                <a:solidFill>
                  <a:srgbClr val="687078"/>
                </a:solidFill>
                <a:latin typeface="Arial"/>
              </a:defRPr>
            </a:pPr>
            <a:r>
              <a:t>Working professionals managing chronic care for elderly parents across uncoordinated OPD visits and lost paper prescriptions.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62272" y="2377440"/>
            <a:ext cx="32461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/>
          <a:lstStyle/>
          <a:p>
            <a:pPr algn="ctr">
              <a:defRPr sz="1000" b="1">
                <a:solidFill>
                  <a:srgbClr val="687078"/>
                </a:solidFill>
                <a:latin typeface="Courier New"/>
              </a:defRPr>
            </a:pPr>
            <a:r>
              <a:t>HOW OFTEN</a:t>
            </a:r>
          </a:p>
          <a:p>
            <a:pPr>
              <a:spcBef>
                <a:spcPts val="1400"/>
              </a:spcBef>
              <a:defRPr sz="1800" b="1">
                <a:solidFill>
                  <a:srgbClr val="14181B"/>
                </a:solidFill>
                <a:latin typeface="Arial"/>
              </a:defRPr>
            </a:pPr>
            <a:r>
              <a:t>2 to 4 Times Per Quarter</a:t>
            </a:r>
          </a:p>
          <a:p>
            <a:pPr>
              <a:spcBef>
                <a:spcPts val="1400"/>
              </a:spcBef>
              <a:defRPr sz="1300">
                <a:solidFill>
                  <a:srgbClr val="687078"/>
                </a:solidFill>
                <a:latin typeface="Arial"/>
              </a:defRPr>
            </a:pPr>
            <a:r>
              <a:t>Scrambling paper folders, waiting in crowded reception queues, and panicking over generic contradictory Google symptom searches.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10144" y="2377440"/>
            <a:ext cx="3246120" cy="3291840"/>
          </a:xfrm>
          <a:prstGeom prst="rect">
            <a:avLst/>
          </a:prstGeom>
          <a:solidFill>
            <a:srgbClr val="1A1D20"/>
          </a:solidFill>
          <a:ln>
            <a:solidFill>
              <a:srgbClr val="1A1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/>
          <a:lstStyle/>
          <a:p>
            <a:pPr algn="ctr">
              <a:defRPr sz="1000" b="1">
                <a:solidFill>
                  <a:srgbClr val="FF5722"/>
                </a:solidFill>
                <a:latin typeface="Courier New"/>
              </a:defRPr>
            </a:pPr>
            <a:r>
              <a:t>WHAT IT COSTS</a:t>
            </a:r>
          </a:p>
          <a:p>
            <a:pPr>
              <a:spcBef>
                <a:spcPts val="1400"/>
              </a:spcBef>
              <a:defRPr sz="1800" b="1">
                <a:solidFill>
                  <a:srgbClr val="FFFFFF"/>
                </a:solidFill>
                <a:latin typeface="Arial"/>
              </a:defRPr>
            </a:pPr>
            <a:r>
              <a:t>₹3,500+ &amp; 6 Hours Wasted</a:t>
            </a:r>
          </a:p>
          <a:p>
            <a:pPr>
              <a:spcBef>
                <a:spcPts val="1400"/>
              </a:spcBef>
              <a:defRPr sz="1300">
                <a:solidFill>
                  <a:srgbClr val="BBC2C8"/>
                </a:solidFill>
                <a:latin typeface="Arial"/>
              </a:defRPr>
            </a:pPr>
            <a:r>
              <a:t>Lost per medical episode on redundant duplicate lab tests, misrouted doctor visits, and delayed life-critical emergency interventions.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87078"/>
                </a:solidFill>
                <a:latin typeface="Courier New"/>
              </a:defRPr>
            </a:pPr>
            <a:r>
              <a:t>Tip: a painful problem has a number. Put it on the slide.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217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87078"/>
                </a:solidFill>
                <a:latin typeface="Courier New"/>
              </a:defRPr>
            </a:pPr>
            <a:r>
              <a:t>02/08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722"/>
                </a:solidFill>
                <a:latin typeface="Courier New"/>
              </a:defRPr>
            </a:pPr>
            <a:r>
              <a:t>03 ·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81B"/>
                </a:solidFill>
                <a:latin typeface="Arial"/>
              </a:defRPr>
            </a:pPr>
            <a:r>
              <a:t>Curelith turns WhatsApp into an AI triage nurse &amp; ER health pass in seconds.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51206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000" b="1">
                <a:solidFill>
                  <a:srgbClr val="FF5722"/>
                </a:solidFill>
                <a:latin typeface="Courier New"/>
              </a:defRPr>
            </a:pPr>
            <a:r>
              <a:t>CURELITH PRODUCT ARCHITECTURE</a:t>
            </a:r>
          </a:p>
          <a:p>
            <a:pPr>
              <a:spcBef>
                <a:spcPts val="1200"/>
              </a:spcBef>
              <a:defRPr sz="1500" b="1">
                <a:solidFill>
                  <a:srgbClr val="14181B"/>
                </a:solidFill>
                <a:latin typeface="Arial"/>
              </a:defRPr>
            </a:pPr>
            <a:r>
              <a:t>📲 WhatsApp AI Triage</a:t>
            </a:r>
          </a:p>
          <a:p>
            <a:pPr>
              <a:defRPr sz="1200">
                <a:solidFill>
                  <a:srgbClr val="687078"/>
                </a:solidFill>
                <a:latin typeface="Arial"/>
              </a:defRPr>
            </a:pPr>
            <a:r>
              <a:t>Patients type symptoms in plain Tamil or English. Clinical NLP determines urgency (Emergency / Specialist / Home care).</a:t>
            </a:r>
          </a:p>
          <a:p>
            <a:pPr>
              <a:spcBef>
                <a:spcPts val="1400"/>
              </a:spcBef>
              <a:defRPr sz="1500" b="1">
                <a:solidFill>
                  <a:srgbClr val="14181B"/>
                </a:solidFill>
                <a:latin typeface="Arial"/>
              </a:defRPr>
            </a:pPr>
            <a:r>
              <a:t>💳 Verified Physical Pass (MED-PASS)</a:t>
            </a:r>
          </a:p>
          <a:p>
            <a:pPr>
              <a:defRPr sz="1200">
                <a:solidFill>
                  <a:srgbClr val="687078"/>
                </a:solidFill>
                <a:latin typeface="Arial"/>
              </a:defRPr>
            </a:pPr>
            <a:r>
              <a:t>CR80 wallet card with instant QR for SOS paramedics, blood group verification, and PIN-protected locker for doctors.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5722"/>
                </a:solidFill>
                <a:latin typeface="Arial"/>
              </a:defRPr>
            </a:pPr>
            <a:r>
              <a:t>1   User texts symptoms to WhatsApp bot</a:t>
            </a:r>
          </a:p>
          <a:p>
            <a:pPr>
              <a:spcBef>
                <a:spcPts val="400"/>
              </a:spcBef>
              <a:defRPr sz="1250">
                <a:solidFill>
                  <a:srgbClr val="687078"/>
                </a:solidFill>
                <a:latin typeface="Arial"/>
              </a:defRPr>
            </a:pPr>
            <a:r>
              <a:t>Zero app downloads required. Fully conversational intake collects age, vitals, and severity in under 90 seconds.</a:t>
            </a:r>
          </a:p>
          <a:p>
            <a:pPr>
              <a:spcBef>
                <a:spcPts val="1800"/>
              </a:spcBef>
              <a:defRPr sz="1600" b="1">
                <a:solidFill>
                  <a:srgbClr val="14181B"/>
                </a:solidFill>
                <a:latin typeface="Arial"/>
              </a:defRPr>
            </a:pPr>
            <a:r>
              <a:t>2   AI triages severity &amp; routes directly</a:t>
            </a:r>
          </a:p>
          <a:p>
            <a:pPr>
              <a:spcBef>
                <a:spcPts val="400"/>
              </a:spcBef>
              <a:defRPr sz="1250">
                <a:solidFill>
                  <a:srgbClr val="687078"/>
                </a:solidFill>
                <a:latin typeface="Arial"/>
              </a:defRPr>
            </a:pPr>
            <a:r>
              <a:t>Eliminates panic. Instantly matches patient with verified partner hospitals (Orthomed, Apollo) or schedules lab scan.</a:t>
            </a:r>
          </a:p>
          <a:p>
            <a:pPr>
              <a:spcBef>
                <a:spcPts val="1800"/>
              </a:spcBef>
              <a:defRPr sz="1600" b="1">
                <a:solidFill>
                  <a:srgbClr val="14181B"/>
                </a:solidFill>
                <a:latin typeface="Arial"/>
              </a:defRPr>
            </a:pPr>
            <a:r>
              <a:t>3   Doctors &amp; Paramedics scan 1-Tap QR</a:t>
            </a:r>
          </a:p>
          <a:p>
            <a:pPr>
              <a:spcBef>
                <a:spcPts val="400"/>
              </a:spcBef>
              <a:defRPr sz="1250">
                <a:solidFill>
                  <a:srgbClr val="687078"/>
                </a:solidFill>
                <a:latin typeface="Arial"/>
              </a:defRPr>
            </a:pPr>
            <a:r>
              <a:t>In road accidents or hospital ER, first responders tap the QR to instantly view blood group, allergies, and emergency ICE contacts.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87078"/>
                </a:solidFill>
                <a:latin typeface="Courier New"/>
              </a:defRPr>
            </a:pPr>
            <a:r>
              <a:t>Tip: one screenshot beats five bullet 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217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87078"/>
                </a:solidFill>
                <a:latin typeface="Courier New"/>
              </a:defRPr>
            </a:pPr>
            <a:r>
              <a:t>03/08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722"/>
                </a:solidFill>
                <a:latin typeface="Courier New"/>
              </a:defRPr>
            </a:pPr>
            <a:r>
              <a:t>04 ·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5722"/>
                </a:solidFill>
                <a:latin typeface="Arial"/>
              </a:defRPr>
            </a:pPr>
            <a:r>
              <a:t>[ 25,000+ ]</a:t>
            </a:r>
          </a:p>
          <a:p>
            <a:pPr>
              <a:spcBef>
                <a:spcPts val="1600"/>
              </a:spcBef>
              <a:defRPr sz="2200" i="1">
                <a:solidFill>
                  <a:srgbClr val="FFFFFF"/>
                </a:solidFill>
                <a:latin typeface="Georgia"/>
              </a:defRPr>
            </a:pPr>
            <a:r>
              <a:t>Patients Triaged &amp; Health Records Secured</a:t>
            </a:r>
          </a:p>
          <a:p>
            <a:pPr>
              <a:spcBef>
                <a:spcPts val="1400"/>
              </a:spcBef>
              <a:defRPr sz="1200">
                <a:solidFill>
                  <a:srgbClr val="8A929A"/>
                </a:solidFill>
                <a:latin typeface="Courier New"/>
              </a:defRPr>
            </a:pPr>
            <a:r>
              <a:t>growth: 34% month-on-month across Chennai 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0" y="1645920"/>
            <a:ext cx="4663440" cy="1188720"/>
          </a:xfrm>
          <a:prstGeom prst="rect">
            <a:avLst/>
          </a:prstGeom>
          <a:solidFill>
            <a:srgbClr val="1A1D20"/>
          </a:solidFill>
          <a:ln>
            <a:solidFill>
              <a:srgbClr val="282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[ 15+ ]  Partner Hospitals &amp; Diagnostic Centres</a:t>
            </a:r>
          </a:p>
          <a:p>
            <a:pPr>
              <a:spcBef>
                <a:spcPts val="400"/>
              </a:spcBef>
              <a:defRPr sz="1100">
                <a:solidFill>
                  <a:srgbClr val="8A929A"/>
                </a:solidFill>
                <a:latin typeface="Arial"/>
              </a:defRPr>
            </a:pPr>
            <a:r>
              <a:t>Active clinical routing partners including Orthomed, Apollo network, Billroth &amp; diagnostics.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3017520"/>
            <a:ext cx="4663440" cy="1188720"/>
          </a:xfrm>
          <a:prstGeom prst="rect">
            <a:avLst/>
          </a:prstGeom>
          <a:solidFill>
            <a:srgbClr val="1A1D20"/>
          </a:solidFill>
          <a:ln>
            <a:solidFill>
              <a:srgbClr val="282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[ 88% ]  90-Day Retention on Health Locker</a:t>
            </a:r>
          </a:p>
          <a:p>
            <a:pPr>
              <a:spcBef>
                <a:spcPts val="400"/>
              </a:spcBef>
              <a:defRPr sz="1100">
                <a:solidFill>
                  <a:srgbClr val="8A929A"/>
                </a:solidFill>
                <a:latin typeface="Arial"/>
              </a:defRPr>
            </a:pPr>
            <a:r>
              <a:t>Patients reuse their Curelith WhatsApp locker for prescription retrieval and repeat consultations.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4389120"/>
            <a:ext cx="4663440" cy="1188720"/>
          </a:xfrm>
          <a:prstGeom prst="rect">
            <a:avLst/>
          </a:prstGeom>
          <a:solidFill>
            <a:srgbClr val="1A1D20"/>
          </a:solidFill>
          <a:ln>
            <a:solidFill>
              <a:srgbClr val="282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[ 4,200+ ]  Corporate &amp; Emergency Passes Issued</a:t>
            </a:r>
          </a:p>
          <a:p>
            <a:pPr>
              <a:spcBef>
                <a:spcPts val="400"/>
              </a:spcBef>
              <a:defRPr sz="1100">
                <a:solidFill>
                  <a:srgbClr val="8A929A"/>
                </a:solidFill>
                <a:latin typeface="Arial"/>
              </a:defRPr>
            </a:pPr>
            <a:r>
              <a:t>B2B employee sponsorship live with instant company UUID invitation portals.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A929A"/>
                </a:solidFill>
                <a:latin typeface="Courier New"/>
              </a:defRPr>
            </a:pPr>
            <a:r>
              <a:t>Tip: investors fund momentum. Lead with your strongest number.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217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A929A"/>
                </a:solidFill>
                <a:latin typeface="Courier New"/>
              </a:defRPr>
            </a:pPr>
            <a:r>
              <a:t>04/08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722"/>
                </a:solidFill>
                <a:latin typeface="Courier New"/>
              </a:defRPr>
            </a:pPr>
            <a:r>
              <a:t>05 ·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9AA0A6"/>
                </a:solidFill>
                <a:latin typeface="Arial"/>
              </a:defRPr>
            </a:pPr>
            <a:r>
              <a:t>Everyone thinks patients want another complex healthcare app to download.</a:t>
            </a:r>
          </a:p>
          <a:p>
            <a:pPr>
              <a:spcBef>
                <a:spcPts val="2000"/>
              </a:spcBef>
              <a:defRPr sz="3600" b="1" i="1">
                <a:solidFill>
                  <a:srgbClr val="FF5722"/>
                </a:solidFill>
                <a:latin typeface="Georgia"/>
              </a:defRPr>
            </a:pPr>
            <a:r>
              <a:t>We learned patients and doctors only adopt digital health when it lives inside WhatsApp and on a physical wallet card.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103327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defRPr sz="1000" b="1">
                <a:solidFill>
                  <a:srgbClr val="687078"/>
                </a:solidFill>
                <a:latin typeface="Courier New"/>
              </a:defRPr>
            </a:pPr>
            <a:r>
              <a:t>HOW WE KNOW</a:t>
            </a:r>
          </a:p>
          <a:p>
            <a:pPr>
              <a:spcBef>
                <a:spcPts val="400"/>
              </a:spcBef>
              <a:defRPr sz="1300" b="1">
                <a:solidFill>
                  <a:srgbClr val="14181B"/>
                </a:solidFill>
                <a:latin typeface="Arial"/>
              </a:defRPr>
            </a:pPr>
            <a:r>
              <a:t>25,000+ real patient interactions, 15 hospital partnerships across Tamil Nadu, 0 required app downloads. 92% of elderly users successfully uploaded prescriptions.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87078"/>
                </a:solidFill>
                <a:latin typeface="Courier New"/>
              </a:defRPr>
            </a:pPr>
            <a:r>
              <a:t>Tip: this is why you win, not what you built.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217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87078"/>
                </a:solidFill>
                <a:latin typeface="Courier New"/>
              </a:defRPr>
            </a:pPr>
            <a:r>
              <a:t>05/08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722"/>
                </a:solidFill>
                <a:latin typeface="Courier New"/>
              </a:defRPr>
            </a:pPr>
            <a:r>
              <a:t>06 · MARKET &amp;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81B"/>
                </a:solidFill>
                <a:latin typeface="Arial"/>
              </a:defRPr>
            </a:pPr>
            <a:r>
              <a:t>A ₹1,800 Cr ($220M) market, counted bottom-up.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29260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320040"/>
          <a:lstStyle/>
          <a:p>
            <a:pPr algn="ctr">
              <a:defRPr sz="3200" b="1">
                <a:solidFill>
                  <a:srgbClr val="14181B"/>
                </a:solidFill>
                <a:latin typeface="Arial"/>
              </a:defRPr>
            </a:pPr>
            <a:r>
              <a:t>[ 60 Lakh ]</a:t>
            </a:r>
          </a:p>
          <a:p>
            <a:pPr>
              <a:spcBef>
                <a:spcPts val="800"/>
              </a:spcBef>
              <a:defRPr sz="1200">
                <a:solidFill>
                  <a:srgbClr val="687078"/>
                </a:solidFill>
                <a:latin typeface="Arial"/>
              </a:defRPr>
            </a:pPr>
            <a:r>
              <a:t>urban families in South India metro hubs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2560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687078"/>
                </a:solidFill>
                <a:latin typeface="Arial"/>
              </a:defRPr>
            </a:pPr>
            <a:r>
              <a:t>×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2011680"/>
            <a:ext cx="29260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320040"/>
          <a:lstStyle/>
          <a:p>
            <a:pPr algn="ctr">
              <a:defRPr sz="3200" b="1">
                <a:solidFill>
                  <a:srgbClr val="14181B"/>
                </a:solidFill>
                <a:latin typeface="Arial"/>
              </a:defRPr>
            </a:pPr>
            <a:r>
              <a:t>[ ₹3,000 ]</a:t>
            </a:r>
          </a:p>
          <a:p>
            <a:pPr>
              <a:spcBef>
                <a:spcPts val="800"/>
              </a:spcBef>
              <a:defRPr sz="1200">
                <a:solidFill>
                  <a:srgbClr val="687078"/>
                </a:solidFill>
                <a:latin typeface="Arial"/>
              </a:defRPr>
            </a:pPr>
            <a:r>
              <a:t>annual spend on health pass, locker &amp; bookings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560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687078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011680"/>
            <a:ext cx="3200400" cy="2011680"/>
          </a:xfrm>
          <a:prstGeom prst="rect">
            <a:avLst/>
          </a:prstGeom>
          <a:solidFill>
            <a:srgbClr val="1A1D20"/>
          </a:solidFill>
          <a:ln>
            <a:solidFill>
              <a:srgbClr val="1A1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320040"/>
          <a:lstStyle/>
          <a:p>
            <a:pPr algn="ctr">
              <a:defRPr sz="3200" b="1">
                <a:solidFill>
                  <a:srgbClr val="FF5722"/>
                </a:solidFill>
                <a:latin typeface="Arial"/>
              </a:defRPr>
            </a:pPr>
            <a:r>
              <a:t>[ ₹1,800 Cr ]</a:t>
            </a:r>
          </a:p>
          <a:p>
            <a:pPr>
              <a:spcBef>
                <a:spcPts val="800"/>
              </a:spcBef>
              <a:defRPr sz="1200">
                <a:solidFill>
                  <a:srgbClr val="BBC2C8"/>
                </a:solidFill>
                <a:latin typeface="Arial"/>
              </a:defRPr>
            </a:pPr>
            <a:r>
              <a:t>South India Addressable Market ($220M)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297680"/>
            <a:ext cx="103327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000" b="1">
                <a:solidFill>
                  <a:srgbClr val="687078"/>
                </a:solidFill>
                <a:latin typeface="Courier New"/>
              </a:defRPr>
            </a:pPr>
            <a:r>
              <a:t>HOW WE MAKE MONEY</a:t>
            </a:r>
          </a:p>
          <a:p>
            <a:pPr>
              <a:spcBef>
                <a:spcPts val="600"/>
              </a:spcBef>
              <a:defRPr sz="1250">
                <a:solidFill>
                  <a:srgbClr val="14181B"/>
                </a:solidFill>
                <a:latin typeface="Arial"/>
              </a:defRPr>
            </a:pPr>
            <a:r>
              <a:t>1. B2C Annual Emergency Health Pass: ₹499 / citizen / year (82% Gross Margin)</a:t>
            </a:r>
            <a:br/>
            <a:r>
              <a:t>2. B2B Corporate Employee Roster: ₹299 / employee / year (Includes company portal)</a:t>
            </a:r>
            <a:br/>
            <a:r>
              <a:t>3. Hospital &amp; Diagnostic Bookings: 12% to 18% take rate on referred scans &amp; OPD slots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87078"/>
                </a:solidFill>
                <a:latin typeface="Courier New"/>
              </a:defRPr>
            </a:pPr>
            <a:r>
              <a:t>Tip: skip the '1% of a $50B market' slides. Show your math.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217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87078"/>
                </a:solidFill>
                <a:latin typeface="Courier New"/>
              </a:defRPr>
            </a:pPr>
            <a:r>
              <a:t>06/08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722"/>
                </a:solidFill>
                <a:latin typeface="Courier New"/>
              </a:defRPr>
            </a:pPr>
            <a:r>
              <a:t>07 ·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81B"/>
                </a:solidFill>
                <a:latin typeface="Arial"/>
              </a:defRPr>
            </a:pPr>
            <a:r>
              <a:t>Why we're the ones to build this.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32461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234440"/>
          <a:lstStyle/>
          <a:p>
            <a:pPr algn="ctr">
              <a:defRPr sz="1700" b="1">
                <a:solidFill>
                  <a:srgbClr val="14181B"/>
                </a:solidFill>
                <a:latin typeface="Arial"/>
              </a:defRPr>
            </a:pPr>
            <a:r>
              <a:t>Mohammed Saaqib</a:t>
            </a:r>
          </a:p>
          <a:p>
            <a:pPr>
              <a:spcBef>
                <a:spcPts val="400"/>
              </a:spcBef>
              <a:defRPr sz="950" b="1">
                <a:solidFill>
                  <a:srgbClr val="FF5722"/>
                </a:solidFill>
                <a:latin typeface="Courier New"/>
              </a:defRPr>
            </a:pPr>
            <a:r>
              <a:t>FOUNDER &amp; CEO</a:t>
            </a:r>
          </a:p>
          <a:p>
            <a:pPr>
              <a:spcBef>
                <a:spcPts val="1200"/>
              </a:spcBef>
              <a:defRPr sz="1200">
                <a:solidFill>
                  <a:srgbClr val="687078"/>
                </a:solidFill>
                <a:latin typeface="Arial"/>
              </a:defRPr>
            </a:pPr>
            <a:r>
              <a:t>Full-stack healthcare engineer &amp; product architect. Built Curelith's triaging core, WhatsApp webhook engine, and secured 15+ hospital contracts single-handedly.</a:t>
            </a:r>
          </a:p>
        </p:txBody>
      </p:sp>
      <p:sp>
        <p:nvSpPr>
          <p:cNvPr id="5" name="Oval 4"/>
          <p:cNvSpPr/>
          <p:nvPr/>
        </p:nvSpPr>
        <p:spPr>
          <a:xfrm>
            <a:off x="1234440" y="2423160"/>
            <a:ext cx="777240" cy="777240"/>
          </a:xfrm>
          <a:prstGeom prst="ellipse">
            <a:avLst/>
          </a:prstGeom>
          <a:solidFill>
            <a:srgbClr val="EEEADF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62272" y="2103120"/>
            <a:ext cx="32461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234440"/>
          <a:lstStyle/>
          <a:p>
            <a:pPr algn="ctr">
              <a:defRPr sz="1700" b="1">
                <a:solidFill>
                  <a:srgbClr val="14181B"/>
                </a:solidFill>
                <a:latin typeface="Arial"/>
              </a:defRPr>
            </a:pPr>
            <a:r>
              <a:t>Clinical Advisory Board</a:t>
            </a:r>
          </a:p>
          <a:p>
            <a:pPr>
              <a:spcBef>
                <a:spcPts val="400"/>
              </a:spcBef>
              <a:defRPr sz="950" b="1">
                <a:solidFill>
                  <a:srgbClr val="FF5722"/>
                </a:solidFill>
                <a:latin typeface="Courier New"/>
              </a:defRPr>
            </a:pPr>
            <a:r>
              <a:t>EMERGENCY HEADS &amp; SURGEONS</a:t>
            </a:r>
          </a:p>
          <a:p>
            <a:pPr>
              <a:spcBef>
                <a:spcPts val="1200"/>
              </a:spcBef>
              <a:defRPr sz="1200">
                <a:solidFill>
                  <a:srgbClr val="687078"/>
                </a:solidFill>
                <a:latin typeface="Arial"/>
              </a:defRPr>
            </a:pPr>
            <a:r>
              <a:t>Senior clinical directors and emergency physicians from premier Chennai teaching hospitals supervising triage safety protocols and clinical audit pipelines.</a:t>
            </a:r>
          </a:p>
        </p:txBody>
      </p:sp>
      <p:sp>
        <p:nvSpPr>
          <p:cNvPr id="7" name="Oval 6"/>
          <p:cNvSpPr/>
          <p:nvPr/>
        </p:nvSpPr>
        <p:spPr>
          <a:xfrm>
            <a:off x="4782312" y="2423160"/>
            <a:ext cx="777240" cy="777240"/>
          </a:xfrm>
          <a:prstGeom prst="ellipse">
            <a:avLst/>
          </a:prstGeom>
          <a:solidFill>
            <a:srgbClr val="EEEADF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10144" y="2103120"/>
            <a:ext cx="32461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234440"/>
          <a:lstStyle/>
          <a:p>
            <a:pPr algn="ctr">
              <a:defRPr sz="1700" b="1">
                <a:solidFill>
                  <a:srgbClr val="14181B"/>
                </a:solidFill>
                <a:latin typeface="Arial"/>
              </a:defRPr>
            </a:pPr>
            <a:r>
              <a:t>Hospital Operations &amp; Growth</a:t>
            </a:r>
          </a:p>
          <a:p>
            <a:pPr>
              <a:spcBef>
                <a:spcPts val="400"/>
              </a:spcBef>
              <a:defRPr sz="950" b="1">
                <a:solidFill>
                  <a:srgbClr val="FF5722"/>
                </a:solidFill>
                <a:latin typeface="Courier New"/>
              </a:defRPr>
            </a:pPr>
            <a:r>
              <a:t>TECH &amp; PARTNER LOGISTICS</a:t>
            </a:r>
          </a:p>
          <a:p>
            <a:pPr>
              <a:spcBef>
                <a:spcPts val="1200"/>
              </a:spcBef>
              <a:defRPr sz="1200">
                <a:solidFill>
                  <a:srgbClr val="687078"/>
                </a:solidFill>
                <a:latin typeface="Arial"/>
              </a:defRPr>
            </a:pPr>
            <a:r>
              <a:t>Ground execution specialists in hospital reception onboarding, diagnostic tie-ups, and corporate employee health drives across industrial corridors.</a:t>
            </a:r>
          </a:p>
        </p:txBody>
      </p:sp>
      <p:sp>
        <p:nvSpPr>
          <p:cNvPr id="9" name="Oval 8"/>
          <p:cNvSpPr/>
          <p:nvPr/>
        </p:nvSpPr>
        <p:spPr>
          <a:xfrm>
            <a:off x="8330184" y="2423160"/>
            <a:ext cx="777240" cy="777240"/>
          </a:xfrm>
          <a:prstGeom prst="ellipse">
            <a:avLst/>
          </a:prstGeom>
          <a:solidFill>
            <a:srgbClr val="EEEADF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87078"/>
                </a:solidFill>
                <a:latin typeface="Courier New"/>
              </a:defRPr>
            </a:pPr>
            <a:r>
              <a:t>Tip: accomplishments, not résumés. Skip the advisor logos.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217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87078"/>
                </a:solidFill>
                <a:latin typeface="Courier New"/>
              </a:defRPr>
            </a:pPr>
            <a:r>
              <a:t>07/08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722"/>
                </a:solidFill>
                <a:latin typeface="Courier New"/>
              </a:defRPr>
            </a:pPr>
            <a:r>
              <a:t>08 ·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Raising [ ₹2.5 Cr / $300K ]</a:t>
            </a:r>
          </a:p>
          <a:p>
            <a:pPr>
              <a:spcBef>
                <a:spcPts val="1400"/>
              </a:spcBef>
              <a:defRPr sz="2000" i="1">
                <a:solidFill>
                  <a:srgbClr val="D4DADC"/>
                </a:solidFill>
                <a:latin typeface="Georgia"/>
              </a:defRPr>
            </a:pPr>
            <a:r>
              <a:t>on a pre-seed SAFE / priced round to reach these milestones in 18 months: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3246120" cy="36576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324612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FF5722"/>
                </a:solidFill>
                <a:latin typeface="Courier New"/>
              </a:defRPr>
            </a:pPr>
            <a:r>
              <a:t>[ Milestone 1 ]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₹1.2 Cr ARR</a:t>
            </a:r>
          </a:p>
          <a:p>
            <a:pPr>
              <a:spcBef>
                <a:spcPts val="800"/>
              </a:spcBef>
              <a:defRPr sz="1200">
                <a:solidFill>
                  <a:srgbClr val="8A929A"/>
                </a:solidFill>
                <a:latin typeface="Arial"/>
              </a:defRPr>
            </a:pPr>
            <a:r>
              <a:t>150,000 active WhatsApp health locker families and 25,000 paid annual emergency passes.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62272" y="3291840"/>
            <a:ext cx="3246120" cy="36576"/>
          </a:xfrm>
          <a:prstGeom prst="rect">
            <a:avLst/>
          </a:prstGeom>
          <a:solidFill>
            <a:srgbClr val="383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62272" y="3429000"/>
            <a:ext cx="324612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FF5722"/>
                </a:solidFill>
                <a:latin typeface="Courier New"/>
              </a:defRPr>
            </a:pPr>
            <a:r>
              <a:t>[ Milestone 2 ]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50+ Partner Hospitals</a:t>
            </a:r>
          </a:p>
          <a:p>
            <a:pPr>
              <a:spcBef>
                <a:spcPts val="800"/>
              </a:spcBef>
              <a:defRPr sz="1200">
                <a:solidFill>
                  <a:srgbClr val="8A929A"/>
                </a:solidFill>
                <a:latin typeface="Arial"/>
              </a:defRPr>
            </a:pPr>
            <a:r>
              <a:t>Expand network across Chennai, Coimbatore, Madurai, and entry into Bangalore.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10144" y="3291840"/>
            <a:ext cx="3246120" cy="36576"/>
          </a:xfrm>
          <a:prstGeom prst="rect">
            <a:avLst/>
          </a:prstGeom>
          <a:solidFill>
            <a:srgbClr val="383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3429000"/>
            <a:ext cx="324612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FF5722"/>
                </a:solidFill>
                <a:latin typeface="Courier New"/>
              </a:defRPr>
            </a:pPr>
            <a:r>
              <a:t>[ Milestone 3 ]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Ready for Series A</a:t>
            </a:r>
          </a:p>
          <a:p>
            <a:pPr>
              <a:spcBef>
                <a:spcPts val="800"/>
              </a:spcBef>
              <a:defRPr sz="1200">
                <a:solidFill>
                  <a:srgbClr val="8A929A"/>
                </a:solidFill>
                <a:latin typeface="Arial"/>
              </a:defRPr>
            </a:pPr>
            <a:r>
              <a:t>Proven unit economics, positive referral margins, and integrated surgical &amp; insurance concierge.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Mohammed Saaqib · saaqibheroindia@gmail.com · curelith.com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179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A929A"/>
                </a:solidFill>
                <a:latin typeface="Courier New"/>
              </a:defRPr>
            </a:pPr>
            <a:r>
              <a:t>Tip: the ask is milestones, not a pie chart.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217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A929A"/>
                </a:solidFill>
                <a:latin typeface="Courier New"/>
              </a:defRPr>
            </a:pPr>
            <a:r>
              <a:t>08/08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